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0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31750"/>
            <a:ext cx="30371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人工智能人才库 · AI TALENT PLATFORM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71532" y="431750"/>
            <a:ext cx="626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58701" y="1808262"/>
            <a:ext cx="533400" cy="38100"/>
          </a:xfrm>
          <a:prstGeom prst="rect">
            <a:avLst/>
          </a:prstGeom>
          <a:solidFill>
            <a:srgbClr val="0041C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2100263"/>
            <a:ext cx="818713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4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智能体矩阵产品规划方案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58701" y="2852738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1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MATRIX PRODUCT PLAN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8701" y="3303538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围绕「人工智能创新能力培养</a:t>
            </a:r>
            <a:r>
              <a:rPr lang="en-US" sz="11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」，</a:t>
            </a:r>
            <a:r>
              <a:rPr lang="en-US" sz="1100" dirty="0" err="1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覆盖知识体系、测评计划、能力诊断、成长规划、用户服务全链路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8701" y="4722912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701" y="4816525"/>
            <a:ext cx="8980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937748" y="4816525"/>
            <a:ext cx="660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产品规划汇报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定位总述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71575"/>
            <a:ext cx="777240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spcBef>
                <a:spcPts val="1800"/>
              </a:spcBef>
              <a:spcAft>
                <a:spcPts val="2200"/>
              </a:spcAft>
              <a:buNone/>
            </a:pPr>
            <a:r>
              <a:rPr lang="en-US" sz="1450" dirty="0" err="1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人才库是面向中小学生的人工智能测评与成长平台。智能体矩阵以「人工智能创新能力培养」为主线，提供全链路</a:t>
            </a:r>
            <a:r>
              <a:rPr lang="zh-CN" altLang="en-US" sz="14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、多智能体矩阵服务</a:t>
            </a:r>
            <a:r>
              <a:rPr lang="en-US" sz="14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58701" y="2039987"/>
            <a:ext cx="2540050" cy="199995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2227213"/>
            <a:ext cx="2156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1376" y="2481114"/>
            <a:ext cx="2156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一条主线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1376" y="2811214"/>
            <a:ext cx="215699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 err="1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以「人工智能创新能力培养」贯通产品体系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01901" y="2039987"/>
            <a:ext cx="2540198" cy="199995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14576" y="2227213"/>
            <a:ext cx="2157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4576" y="2481114"/>
            <a:ext cx="2157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全链路覆盖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14576" y="2811214"/>
            <a:ext cx="215714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 err="1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知识体系、测评计划、能力诊断、成长规划、用户服务五环相扣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45250" y="2039987"/>
            <a:ext cx="2540050" cy="1999952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7925" y="2227213"/>
            <a:ext cx="2156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57925" y="2481114"/>
            <a:ext cx="2156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数据自主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7925" y="2811214"/>
            <a:ext cx="215699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全部基于平台自有考试数据运行，不依赖外部数据源，规避合规风险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现状与问题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58701" y="1155650"/>
            <a:ext cx="2540050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701" y="1292126"/>
            <a:ext cx="2590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8701" y="1485751"/>
            <a:ext cx="2590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政策层面：标准处于建设期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8701" y="1787277"/>
            <a:ext cx="2540050" cy="93568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2022年信息科技独立设课，人工智能列为课程模块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2024—2026年教育部及五部门连续部署，2030年目标人工智能与教育深度融合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课程体系与评价标准尚在建设期，尚无公认统一的学习计划与考纲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01901" y="1155650"/>
            <a:ext cx="2540198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1901" y="1292126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01901" y="1485751"/>
            <a:ext cx="2591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学校层面：教学安排不一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01901" y="1787277"/>
            <a:ext cx="2540198" cy="93568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基地校试点推进，体系化课程在绝大多数学校尚未落地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各地课程形态与内容深度差异明显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信息科技每周仅1课时，难以支撑完整的人工智能知识体系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45250" y="1155650"/>
            <a:ext cx="2540050" cy="0"/>
          </a:xfrm>
          <a:prstGeom prst="line">
            <a:avLst/>
          </a:prstGeom>
          <a:noFill/>
          <a:ln w="19050">
            <a:solidFill>
              <a:srgbClr val="004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5250" y="1292126"/>
            <a:ext cx="2590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45250" y="1485751"/>
            <a:ext cx="2590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学生层面：能力分布离散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5250" y="1787277"/>
            <a:ext cx="2540050" cy="773906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城乡互联网普及率相差10.6个百分点（80.1% vs 69.5%）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家庭数字环境差异显著，认知起点不一</a:t>
            </a:r>
            <a:endParaRPr lang="en-US" sz="850" dirty="0"/>
          </a:p>
          <a:p>
            <a:pPr marL="69850" indent="-69850" algn="l">
              <a:lnSpc>
                <a:spcPts val="1275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统一进度教学难以兼顾不同基础的学生群体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8701" y="2964061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72988" y="2964061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977" y="3078361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小结：学生学习内容、学业标准与考核评价缺乏公认依据，教、考、评三个环节均缺少统一标准。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MAPPING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关键问题与智能体映射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069925"/>
            <a:ext cx="8187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9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五类关键问题分别由对应智能体承接，问题与能力一一对应。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409551"/>
          <a:ext cx="8026301" cy="287015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关键问题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对应智能体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知识体系、学习大纲与考纲缺乏公认标准，教学与考核均缺少依据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知识智能体：</a:t>
                      </a: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构建学科知识图谱，评估知识点价值，落地教学大纲与考纲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命题与组卷的专业性、质量保障缺乏统一标准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测评智能体：</a:t>
                      </a: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依据考纲自动命题组卷，控制难度分布，实施质量把关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学生能力水平难以量化，成长过程缺乏可视化呈现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能力智能体：</a:t>
                      </a: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逐题数据分析与能力诊断，生成成长档案与评价报告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学生能力分布离散，统一进度教学难以适配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能力与测评联动：</a:t>
                      </a: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定位薄弱点，生成定制化练习与符合学习规律的成长计划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家长与教师缺乏辅导抓手，难以给予针对性支持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对话咨询智能体：</a:t>
                      </a: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报告解读、答疑与建议，作为统一服务入口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048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143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智能体矩阵总体架构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968276"/>
            <a:ext cx="8187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自上而下分为用户需求层、智能体矩阵层与能力依赖层（含数据底座），箭头表示数据流与调用关系。</a:t>
            </a:r>
            <a:endParaRPr lang="en-US" sz="850" dirty="0"/>
          </a:p>
        </p:txBody>
      </p:sp>
      <p:pic>
        <p:nvPicPr>
          <p:cNvPr id="5" name="Image 0" descr="/tmp/agent_matrix_pptx/slide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626"/>
            <a:ext cx="8001000" cy="35305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8701" y="4782889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8701" y="4876502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180040" y="4876502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AGENT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五大智能体能力一览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069925"/>
            <a:ext cx="8187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9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五个智能体分工协作，共同构成覆盖考试测评全链路的智能体矩阵。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409551"/>
          <a:ext cx="8026301" cy="27432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0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智能体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1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核心能力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知识智能体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全平台知识底座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基于教材、考纲与历年考试构建学科知识图谱，提供统一知识基准，辅助修订教学大纲与考纲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测评智能体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平台出题引擎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依据考纲自动命题、智能组卷与考试计划，题型与难度可控，保障题库时效性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能力智能体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诊断与成长规划引擎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逐题答题分析与错误归因，跨考试追踪能力变化，生成成长档案、评价报告与成长计划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对话咨询智能体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前台统一服务入口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随时解读测评报告、查询知识点、咨询学习方法，由知识与能力智能体协同应答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41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质量安全智能体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91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后台质量管控防线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34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生成内容入库前自动审查（准确性、难度、K12合规），并检测异常作答行为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COLLABORATION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协同关系与数据闭环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20676"/>
            <a:ext cx="8187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智能体协同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01" y="1412677"/>
            <a:ext cx="1720751" cy="5744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933" y="1523702"/>
            <a:ext cx="15802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知识智能体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8933" y="1742777"/>
            <a:ext cx="1580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统一知识基准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80952" y="1614190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34853" y="1412677"/>
            <a:ext cx="1720751" cy="5744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05085" y="1523702"/>
            <a:ext cx="15802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测评智能体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05085" y="1742777"/>
            <a:ext cx="1580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命题组卷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57105" y="1585615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1005" y="1412677"/>
            <a:ext cx="1720751" cy="5744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237" y="1523702"/>
            <a:ext cx="15802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能力智能体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81237" y="1742777"/>
            <a:ext cx="1580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诊断与成长规划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33257" y="1585615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87158" y="1412677"/>
            <a:ext cx="1720751" cy="5744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7390" y="1523702"/>
            <a:ext cx="15802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对话咨询智能体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7390" y="1742777"/>
            <a:ext cx="1580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统一服务出口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8701" y="2114104"/>
            <a:ext cx="8026598" cy="364927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101" y="2215604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质量安全智能体对测评、能力智能体的全部生成内容实施入库前审查，质量管控贯穿各环节。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8701" y="2656731"/>
            <a:ext cx="8187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数据闭环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8701" y="2948732"/>
            <a:ext cx="1351359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6668" y="3034457"/>
            <a:ext cx="125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学生完成考试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8911" y="3034457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27511" y="2948732"/>
            <a:ext cx="1351359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275478" y="3034457"/>
            <a:ext cx="125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答题数据回流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67720" y="3034457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96320" y="2948732"/>
            <a:ext cx="1351359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44288" y="3034457"/>
            <a:ext cx="125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能力诊断更精准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36530" y="3034457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65130" y="2948732"/>
            <a:ext cx="1351359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13097" y="3034457"/>
            <a:ext cx="125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考频权重持续更新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05340" y="3034457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3940" y="2948732"/>
            <a:ext cx="1351359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281907" y="3034457"/>
            <a:ext cx="125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命题更贴合实际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8701" y="3424982"/>
            <a:ext cx="8026598" cy="434876"/>
          </a:xfrm>
          <a:prstGeom prst="rect">
            <a:avLst/>
          </a:prstGeom>
          <a:solidFill>
            <a:srgbClr val="191C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6402" y="3551932"/>
            <a:ext cx="7824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平台能力随数据积累持续增强，数据资产形成难以复制的竞争壁垒。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价值汇总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72988" y="1146125"/>
            <a:ext cx="0" cy="2000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8777" y="1146125"/>
            <a:ext cx="3701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对学生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701" y="1498550"/>
            <a:ext cx="3759101" cy="6759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0626" y="1635026"/>
            <a:ext cx="350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考试有据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0626" y="1876276"/>
            <a:ext cx="350395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试题贴合考纲，考试安排科学规划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8701" y="2301478"/>
            <a:ext cx="3759101" cy="6759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0626" y="2437954"/>
            <a:ext cx="350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学习有向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0626" y="2679204"/>
            <a:ext cx="350395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诊断细化至知识点粒度，能力短板清晰明确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8701" y="3104406"/>
            <a:ext cx="3759101" cy="675977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0626" y="3240881"/>
            <a:ext cx="350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成长有径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0626" y="3482132"/>
            <a:ext cx="350395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依据学习规律制定成长计划，进步可量化呈现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1439" y="1146125"/>
            <a:ext cx="0" cy="2000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228" y="1146125"/>
            <a:ext cx="3935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对业务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7152" y="1498550"/>
            <a:ext cx="3988147" cy="141803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95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人工智能能力贯穿考试测评各核心环节，充分体现项目核心能力定位</a:t>
            </a:r>
            <a:endParaRPr lang="en-US" sz="900" dirty="0"/>
          </a:p>
          <a:p>
            <a:pPr marL="88900" indent="-88900" algn="l">
              <a:lnSpc>
                <a:spcPts val="1395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全部基于平台自有数据运行，规避外部数据合规风险</a:t>
            </a:r>
            <a:endParaRPr lang="en-US" sz="900" dirty="0"/>
          </a:p>
          <a:p>
            <a:pPr marL="88900" indent="-88900" algn="l">
              <a:lnSpc>
                <a:spcPts val="1395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答题数据持续积累，形成难以复制的数据资产壁垒</a:t>
            </a:r>
            <a:endParaRPr lang="en-US" sz="900" dirty="0"/>
          </a:p>
          <a:p>
            <a:pPr marL="88900" indent="-88900" algn="l">
              <a:lnSpc>
                <a:spcPts val="1395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商业化路径清晰：面向学校与机构输出命题组卷服务，面向家长提供诊断成长报告增值服务，平台整体作为协会对外输出能力</a:t>
            </a:r>
            <a:endParaRPr lang="en-US" sz="900" dirty="0"/>
          </a:p>
          <a:p>
            <a:pPr marL="88900" indent="-88900" algn="l">
              <a:lnSpc>
                <a:spcPts val="1395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权限、审计、导出、批量任务等平台底座充分复用既有成熟设计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590550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落地顺序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71575"/>
            <a:ext cx="2395389" cy="1266974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5927" y="1358801"/>
            <a:ext cx="20613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一期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5927" y="1622227"/>
            <a:ext cx="206135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测评智能体 · 能力智能体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5927" y="1917055"/>
            <a:ext cx="2061356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最贴近现有考试业务，落地见效快，人工智能能力可演示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53419" y="1700213"/>
            <a:ext cx="221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74231" y="1171575"/>
            <a:ext cx="2395389" cy="1266974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1457" y="1358801"/>
            <a:ext cx="20613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二期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1457" y="1622227"/>
            <a:ext cx="206135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知识智能体 · 质量安全智能体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1457" y="1917055"/>
            <a:ext cx="2061356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构建知识图谱底座，质量管控能力与命题测评同步上线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68948" y="1700213"/>
            <a:ext cx="221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9911" y="1171575"/>
            <a:ext cx="2395389" cy="1266974"/>
          </a:xfrm>
          <a:prstGeom prst="rect">
            <a:avLst/>
          </a:prstGeom>
          <a:solidFill>
            <a:srgbClr val="FFFFFF"/>
          </a:solidFill>
          <a:ln w="9525">
            <a:solidFill>
              <a:srgbClr val="C3C5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77136" y="1358801"/>
            <a:ext cx="20613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04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三期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77136" y="1622227"/>
            <a:ext cx="206135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对话咨询智能体 · 对外服务输出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7136" y="1917055"/>
            <a:ext cx="2061356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8"/>
              </a:lnSpc>
              <a:buNone/>
            </a:pPr>
            <a:r>
              <a:rPr lang="en-US" sz="850" dirty="0">
                <a:solidFill>
                  <a:srgbClr val="434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统一服务入口上线，平台能力面向学校与机构开放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8701" y="2667149"/>
            <a:ext cx="8026598" cy="390525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72988" y="2667149"/>
            <a:ext cx="0" cy="390525"/>
          </a:xfrm>
          <a:prstGeom prst="line">
            <a:avLst/>
          </a:prstGeom>
          <a:noFill/>
          <a:ln w="28575">
            <a:solidFill>
              <a:srgbClr val="0041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977" y="2781449"/>
            <a:ext cx="77954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9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推进节奏：先以贴近现有业务的智能体快速验证成效，再夯实知识与质量底座，最终开放对外服务。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8701" y="4751487"/>
            <a:ext cx="8026598" cy="0"/>
          </a:xfrm>
          <a:prstGeom prst="line">
            <a:avLst/>
          </a:prstGeom>
          <a:noFill/>
          <a:ln w="9525">
            <a:solidFill>
              <a:srgbClr val="C3C5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701" y="4845100"/>
            <a:ext cx="898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180040" y="4845100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3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Macintosh PowerPoint</Application>
  <PresentationFormat>全屏显示(16:9)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智能体矩阵产品规划方案</dc:title>
  <dc:subject>PptxGenJS Presentation</dc:subject>
  <dc:creator>AISE</dc:creator>
  <cp:lastModifiedBy>gaozhi zhang</cp:lastModifiedBy>
  <cp:revision>3</cp:revision>
  <dcterms:created xsi:type="dcterms:W3CDTF">2026-08-09T08:34:54Z</dcterms:created>
  <dcterms:modified xsi:type="dcterms:W3CDTF">2026-08-09T08:38:29Z</dcterms:modified>
</cp:coreProperties>
</file>