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31750"/>
            <a:ext cx="30371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人工智能人才库 · AI TALENT PLATFORM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971532" y="431750"/>
            <a:ext cx="6260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58701" y="1808262"/>
            <a:ext cx="533400" cy="38100"/>
          </a:xfrm>
          <a:prstGeom prst="rect">
            <a:avLst/>
          </a:prstGeom>
          <a:solidFill>
            <a:srgbClr val="0041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2100263"/>
            <a:ext cx="818713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4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人工智能人才库建设规划方案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58701" y="2852738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11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PLATFORM CONSTRUCTION PLAN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8701" y="3303538"/>
            <a:ext cx="8187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第一版（8月底初版）按既定设计落地，中长期（至2026年底）构建完整智能体能力体系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8701" y="4722912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701" y="4816525"/>
            <a:ext cx="8980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937748" y="4816525"/>
            <a:ext cx="6605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产品规划汇报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规划总览：两阶段推进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71575"/>
            <a:ext cx="3784699" cy="189666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8701" y="1185863"/>
            <a:ext cx="3784699" cy="0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38638" y="1171575"/>
            <a:ext cx="0" cy="1896666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8701" y="3063478"/>
            <a:ext cx="3784699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3463" y="1171575"/>
            <a:ext cx="0" cy="1896666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1376" y="1377851"/>
            <a:ext cx="34265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第一版 · 8月底初版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1376" y="1615976"/>
            <a:ext cx="3426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按既定设计落地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1376" y="1958876"/>
            <a:ext cx="3359348" cy="85873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1318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人才入库、信息审核、人才查询三大基础功能</a:t>
            </a:r>
            <a:endParaRPr lang="en-US" sz="850" dirty="0"/>
          </a:p>
          <a:p>
            <a:pPr algn="l" marL="69850" indent="-69850">
              <a:lnSpc>
                <a:spcPts val="1318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AI人才大脑：个体水平评估与成长建议报告</a:t>
            </a:r>
            <a:endParaRPr lang="en-US" sz="850" dirty="0"/>
          </a:p>
          <a:p>
            <a:pPr algn="l" marL="69850" indent="-69850">
              <a:lnSpc>
                <a:spcPts val="1318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算法备案与等保同步启动</a:t>
            </a:r>
            <a:endParaRPr lang="en-US" sz="850" dirty="0"/>
          </a:p>
          <a:p>
            <a:pPr algn="l" marL="69850" indent="-69850">
              <a:lnSpc>
                <a:spcPts val="1318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内测先行、灰度开放，先解决「从无到有」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70350" y="200084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1171575"/>
            <a:ext cx="3784699" cy="189666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00600" y="1185863"/>
            <a:ext cx="3784699" cy="0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80537" y="1171575"/>
            <a:ext cx="0" cy="1896666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3063478"/>
            <a:ext cx="3784699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5363" y="1171575"/>
            <a:ext cx="0" cy="1896666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3275" y="1377851"/>
            <a:ext cx="34265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中长期 · 至2026年底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13275" y="1615976"/>
            <a:ext cx="3426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构建完整智能体能力体系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3275" y="1958876"/>
            <a:ext cx="3359348" cy="85873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1318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以AI人才大脑为核心，扩展五大智能体矩阵</a:t>
            </a:r>
            <a:endParaRPr lang="en-US" sz="850" dirty="0"/>
          </a:p>
          <a:p>
            <a:pPr algn="l" marL="69850" indent="-69850">
              <a:lnSpc>
                <a:spcPts val="1318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考试数据闭环运转，平台能力随积累增强</a:t>
            </a:r>
            <a:endParaRPr lang="en-US" sz="850" dirty="0"/>
          </a:p>
          <a:p>
            <a:pPr algn="l" marL="69850" indent="-69850">
              <a:lnSpc>
                <a:spcPts val="1318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完成算法备案，具备正式上线条件</a:t>
            </a:r>
            <a:endParaRPr lang="en-US" sz="850" dirty="0"/>
          </a:p>
          <a:p>
            <a:pPr algn="l" marL="69850" indent="-69850">
              <a:lnSpc>
                <a:spcPts val="1318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面向学校与机构的商业化服务试点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58701" y="3296841"/>
            <a:ext cx="8026598" cy="390525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72988" y="3296841"/>
            <a:ext cx="0" cy="3905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4977" y="3411141"/>
            <a:ext cx="77954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推进原则：第一版不返工、按既定设计快速落地；中长期规划明确年底目标状态，按市场反馈动态迭代。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186738" y="4845100"/>
            <a:ext cx="406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BACKGROUND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背景与建设必要性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58701" y="1155650"/>
            <a:ext cx="2540050" cy="0"/>
          </a:xfrm>
          <a:prstGeom prst="line">
            <a:avLst/>
          </a:prstGeom>
          <a:noFill/>
          <a:ln w="19050">
            <a:solidFill>
              <a:srgbClr val="0041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8701" y="1292126"/>
            <a:ext cx="2590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58701" y="1485751"/>
            <a:ext cx="25908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政策背景：全面推进期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8701" y="1787277"/>
            <a:ext cx="2540050" cy="935682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2022年信息科技独立设课，人工智能列为课程模块</a:t>
            </a:r>
            <a:endParaRPr lang="en-US" sz="850" dirty="0"/>
          </a:p>
          <a:p>
            <a:pPr algn="l" marL="69850" indent="-69850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2024—2026年教育部及五部门连续部署，2030年目标人工智能与教育深度融合</a:t>
            </a:r>
            <a:endParaRPr lang="en-US" sz="850" dirty="0"/>
          </a:p>
          <a:p>
            <a:pPr algn="l" marL="69850" indent="-69850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课程体系与评价标准处于建设期，学生能力分布离散，个性化评价需求突出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01901" y="1155650"/>
            <a:ext cx="2540198" cy="0"/>
          </a:xfrm>
          <a:prstGeom prst="line">
            <a:avLst/>
          </a:prstGeom>
          <a:noFill/>
          <a:ln w="19050">
            <a:solidFill>
              <a:srgbClr val="0041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1901" y="1292126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01901" y="1485751"/>
            <a:ext cx="25910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平台现状：数据已沉淀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01901" y="1787277"/>
            <a:ext cx="2540198" cy="935682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用户认证、人才信息卡、后台审核管理等基础功能已建成</a:t>
            </a:r>
            <a:endParaRPr lang="en-US" sz="850" dirty="0"/>
          </a:p>
          <a:p>
            <a:pPr algn="l" marL="69850" indent="-69850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沉淀AISE测评数据、人才画像等多维度核心数据</a:t>
            </a:r>
            <a:endParaRPr lang="en-US" sz="850" dirty="0"/>
          </a:p>
          <a:p>
            <a:pPr algn="l" marL="69850" indent="-69850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缺乏深度数据挖掘与主动化智能服务，数据资产价值未充分释放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45250" y="1155650"/>
            <a:ext cx="2540050" cy="0"/>
          </a:xfrm>
          <a:prstGeom prst="line">
            <a:avLst/>
          </a:prstGeom>
          <a:noFill/>
          <a:ln w="19050">
            <a:solidFill>
              <a:srgbClr val="0041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5250" y="1292126"/>
            <a:ext cx="2590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45250" y="1485751"/>
            <a:ext cx="25908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建设共识：先解决「有」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45250" y="1787277"/>
            <a:ext cx="2540050" cy="1097459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1.0版本加入「AI人才大脑」，增强产品人工智能属性与创新感知</a:t>
            </a:r>
            <a:endParaRPr lang="en-US" sz="850" dirty="0"/>
          </a:p>
          <a:p>
            <a:pPr algn="l" marL="69850" indent="-69850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优先解决「从无到有」，可接受初期分析质量有限，上线后持续优化</a:t>
            </a:r>
            <a:endParaRPr lang="en-US" sz="850" dirty="0"/>
          </a:p>
          <a:p>
            <a:pPr algn="l" marL="69850" indent="-69850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今年聚焦1.0，按市场反馈动态迭代，不坚持线性多版本规划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8701" y="3125837"/>
            <a:ext cx="8026598" cy="390525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72988" y="3125837"/>
            <a:ext cx="0" cy="3905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977" y="3240137"/>
            <a:ext cx="77954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小结：以1.0版本为切入点，让平台沉淀的数据转化为可感知的人工智能服务能力。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186738" y="4845100"/>
            <a:ext cx="406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人才库1.0总体框架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46125"/>
            <a:ext cx="818713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1600"/>
              </a:spcBef>
              <a:spcAft>
                <a:spcPts val="1800"/>
              </a:spcAft>
              <a:buNone/>
            </a:pPr>
            <a:r>
              <a:rPr lang="en-US" sz="130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1.0版本由三大基础功能与「AI人才大脑」智能体两部分组成。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8701" y="1638746"/>
            <a:ext cx="2540050" cy="1847701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813322"/>
            <a:ext cx="2156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1376" y="2054572"/>
            <a:ext cx="21569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人才入库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1376" y="2352973"/>
            <a:ext cx="2156993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入库标准初步明确：以师资培训产生的作品数量为依据（如20个作品可入库）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01901" y="1638746"/>
            <a:ext cx="2540198" cy="1847701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14576" y="1813322"/>
            <a:ext cx="2157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14576" y="2054572"/>
            <a:ext cx="21571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信息审核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14576" y="2352973"/>
            <a:ext cx="215714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审核机制由吴伟老师负责梳理，并输出方案文档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045250" y="1638746"/>
            <a:ext cx="2540050" cy="1847701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57925" y="1813322"/>
            <a:ext cx="2156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57925" y="2054572"/>
            <a:ext cx="21569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人才查询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7925" y="2352973"/>
            <a:ext cx="2156993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支持入库人才信息的检索与查询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8701" y="3715048"/>
            <a:ext cx="8026598" cy="770632"/>
          </a:xfrm>
          <a:prstGeom prst="rect">
            <a:avLst/>
          </a:prstGeom>
          <a:solidFill>
            <a:srgbClr val="191C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1851" y="3880098"/>
            <a:ext cx="77727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AI人才大脑｜人才库的智能分析引擎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1851" y="4143524"/>
            <a:ext cx="77727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3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核心目标：基于平台数据与大模型能力，自动生成个体人才水平评估与成长建议（功能设计详见下页）。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186738" y="4845100"/>
            <a:ext cx="406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FUNCTION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AI人才大脑1.0功能设计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069925"/>
            <a:ext cx="81871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9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以「档案 → 评估 → 建议 → 报告」为主线，端到端输出完整结果。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58701" y="1409551"/>
            <a:ext cx="1730425" cy="148069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8701" y="1423839"/>
            <a:ext cx="1730425" cy="0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4363" y="1409551"/>
            <a:ext cx="0" cy="1480691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8701" y="2885480"/>
            <a:ext cx="1730425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3463" y="1409551"/>
            <a:ext cx="0" cy="1480691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827" y="1590526"/>
            <a:ext cx="14608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7827" y="1809601"/>
            <a:ext cx="1460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人才档案构建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7827" y="2098477"/>
            <a:ext cx="1460817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基于个人简历、作品及活动参与情况构建人才档案，叠加AISE测评逐题答题数据，形成多维人才画像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90626" y="2049810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7326" y="1409551"/>
            <a:ext cx="1730573" cy="148069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657326" y="1423839"/>
            <a:ext cx="1730573" cy="0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3137" y="1409551"/>
            <a:ext cx="0" cy="1480691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7326" y="2885480"/>
            <a:ext cx="1730573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62089" y="1409551"/>
            <a:ext cx="0" cy="1480691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06452" y="1590526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06452" y="1809601"/>
            <a:ext cx="14609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个体水平评估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06452" y="2098477"/>
            <a:ext cx="1460968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基于逐题答题记录分析知识点掌握程度，错误归因（未掌握、粗心、概念混淆），跨考试追踪能力变化，定位能力短板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89400" y="2049810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6100" y="1409551"/>
            <a:ext cx="1730425" cy="148069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56100" y="1423839"/>
            <a:ext cx="1730425" cy="0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1763" y="1409551"/>
            <a:ext cx="0" cy="1480691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6100" y="2885480"/>
            <a:ext cx="1730425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60863" y="1409551"/>
            <a:ext cx="0" cy="1480691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5226" y="1590526"/>
            <a:ext cx="14608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05226" y="1809601"/>
            <a:ext cx="1460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成长建议生成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05226" y="2098477"/>
            <a:ext cx="1460817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依据教育与学习规律生成个性化建议：优先补齐关键短板、难度递进、定期巩固，配套练习方向建议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88026" y="2049810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4726" y="1409551"/>
            <a:ext cx="1730573" cy="148069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854726" y="1423839"/>
            <a:ext cx="1730573" cy="0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80537" y="1409551"/>
            <a:ext cx="0" cy="1480691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4726" y="2885480"/>
            <a:ext cx="1730573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9488" y="1409551"/>
            <a:ext cx="0" cy="1480691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03852" y="1590526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03852" y="1809601"/>
            <a:ext cx="14609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分析报告输出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03852" y="2098477"/>
            <a:ext cx="1460968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利用平台已接入的大模型通用能力生成标准化分析报告，经质量审核后对外提供，支持导出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8701" y="3093393"/>
            <a:ext cx="8026598" cy="390525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72988" y="3093393"/>
            <a:ext cx="0" cy="3905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4977" y="3207693"/>
            <a:ext cx="77954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数据原则：全部基于平台自有数据运行，不依赖外部数据源，规避外部数据合规风险。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186738" y="4845100"/>
            <a:ext cx="406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COMPLIANCE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合规与安全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069925"/>
            <a:ext cx="81871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9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合规是第一版上线的刚性前提，采取「开发+备案」双线并行。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58701" y="1409551"/>
            <a:ext cx="3746450" cy="109492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8701" y="1423839"/>
            <a:ext cx="3746450" cy="0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0389" y="1409551"/>
            <a:ext cx="0" cy="1094929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8701" y="2499717"/>
            <a:ext cx="3746450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3463" y="1409551"/>
            <a:ext cx="0" cy="1094929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927" y="1577727"/>
            <a:ext cx="34394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算法备案（立即启动）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927" y="1853952"/>
            <a:ext cx="3439439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面向公众提供AI服务均须完成算法备案，免费亦不豁免；本项目虽仅为报告输出，仍需完成基础备案。预计耗时3—6个月：以AIC域名为依托、协会为主体发起申请，技术团队协助材料准备与流程执行。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2852" y="1409551"/>
            <a:ext cx="3746450" cy="1094929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70078" y="1558677"/>
            <a:ext cx="34394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网络安全等级保护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70078" y="1834902"/>
            <a:ext cx="343943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等保工作与算法备案同步推进，相关事项同步向领导汇报，由陆博士牵头跟进准备工作。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8701" y="2682180"/>
            <a:ext cx="3746450" cy="908745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5927" y="2831306"/>
            <a:ext cx="34394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5927" y="3107531"/>
            <a:ext cx="343943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严格遵循《个人信息保护法》，人才画像数据脱敏后参与智能分析；智能体操作与内容生成记录留痕，支持审计溯源。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82852" y="2682180"/>
            <a:ext cx="3746450" cy="908745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70078" y="2831306"/>
            <a:ext cx="34394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双线并行推进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70078" y="3107531"/>
            <a:ext cx="343943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以内测、灰度发布等方式提前验证功能；最终上线状态根据合规进度做适应性调整。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186738" y="4845100"/>
            <a:ext cx="406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SCHEDULE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第一版实施节奏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71575"/>
            <a:ext cx="1768376" cy="1180802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0626" y="1346150"/>
            <a:ext cx="1473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2026.08底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0626" y="1587401"/>
            <a:ext cx="14734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完成开发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0626" y="1862882"/>
            <a:ext cx="147341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1.0功能开发完成，进入测试阶段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03277" y="1661964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44676" y="1171575"/>
            <a:ext cx="1768525" cy="1180802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6601" y="1346150"/>
            <a:ext cx="1473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2026.09起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06601" y="1587401"/>
            <a:ext cx="14735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内测验证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06601" y="1862882"/>
            <a:ext cx="147356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通过权限控制，内部测试用户提前访问功能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89400" y="1661964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0800" y="1171575"/>
            <a:ext cx="1768376" cy="1180802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92725" y="1346150"/>
            <a:ext cx="1473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按备案进度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725" y="1587401"/>
            <a:ext cx="14734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灰度上线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725" y="1862882"/>
            <a:ext cx="147341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内测先行、逐步开放，上线状态随合规进度调整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75375" y="1661964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6775" y="1171575"/>
            <a:ext cx="1768525" cy="1180802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78700" y="1346150"/>
            <a:ext cx="1473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上线后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78700" y="1587401"/>
            <a:ext cx="14735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持续迭代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78700" y="1862882"/>
            <a:ext cx="147356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数据持续积累，分析质量与产品体验迭代优化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8701" y="2580977"/>
            <a:ext cx="8026598" cy="390525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72988" y="2580977"/>
            <a:ext cx="0" cy="3905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4977" y="2695277"/>
            <a:ext cx="77954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资源安排：当前核心任务为支持ASE工程（S营、师资营等密集活动优先），AI人才库开发紧随其后安排资源。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186738" y="4845100"/>
            <a:ext cx="406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048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TARGET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143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中长期目标架构：智能体矩阵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968276"/>
            <a:ext cx="81871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以AI人才大脑（能力智能体，第一版已落地）为核心，扩展为覆盖考试测评全链路的五大智能体矩阵；箭头表示数据流与调用关系。</a:t>
            </a:r>
            <a:endParaRPr lang="en-US" sz="850" dirty="0"/>
          </a:p>
        </p:txBody>
      </p:sp>
      <p:pic>
        <p:nvPicPr>
          <p:cNvPr id="5" name="Image 0" descr="/tmp/ai_brain_pptx/slid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247626"/>
            <a:ext cx="8001000" cy="35305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8701" y="4782889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8701" y="4876502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186738" y="4876502"/>
            <a:ext cx="406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ROADMAP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中长期演进路线（至年底）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46125"/>
            <a:ext cx="2430066" cy="1142702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3276" y="1320701"/>
            <a:ext cx="21225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 —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3276" y="1523851"/>
            <a:ext cx="21225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1.0内测上线与数据积累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3276" y="1799332"/>
            <a:ext cx="21225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内测转灰度上线，真实数据持续积累，分析质量迭代优化；算法备案与等保持续推进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90267" y="1617464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56967" y="1146125"/>
            <a:ext cx="2430066" cy="1142702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31543" y="1320701"/>
            <a:ext cx="21225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 — 11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31543" y="1523851"/>
            <a:ext cx="21225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底座与质量能力建设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31543" y="1799332"/>
            <a:ext cx="21225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知识智能体（考纲图谱底座）与质量安全智能体（内容审查）上线，命题组卷能力启动建设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88534" y="1617464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55234" y="1146125"/>
            <a:ext cx="2430066" cy="1142702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29809" y="1320701"/>
            <a:ext cx="21225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2026.11 — 12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29809" y="1523851"/>
            <a:ext cx="21225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服务扩展与商业化试点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29809" y="1799332"/>
            <a:ext cx="21225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命题组卷与对话咨询服务上线，数据闭环运转，面向学校与机构启动商业化试点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8701" y="2491978"/>
            <a:ext cx="8026598" cy="441127"/>
          </a:xfrm>
          <a:prstGeom prst="rect">
            <a:avLst/>
          </a:prstGeom>
          <a:solidFill>
            <a:srgbClr val="191C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6402" y="2631579"/>
            <a:ext cx="7824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年底目标状态：五大智能体协同的矩阵初步成型，平台具备正式上线与对外服务能力。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186738" y="4845100"/>
            <a:ext cx="406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价值预期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72988" y="1146125"/>
            <a:ext cx="0" cy="2000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8777" y="1146125"/>
            <a:ext cx="3701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对入库人才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8701" y="1498550"/>
            <a:ext cx="3759101" cy="675977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0626" y="1635026"/>
            <a:ext cx="35039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水平可量化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0626" y="1876276"/>
            <a:ext cx="350395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能力水平与能力短板以标准化报告形式清晰呈现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58701" y="2301478"/>
            <a:ext cx="3759101" cy="675977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0626" y="2437954"/>
            <a:ext cx="35039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成长有方向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0626" y="2679204"/>
            <a:ext cx="350395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获得符合学习规律的个性化成长建议，而非笼统评价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1439" y="1146125"/>
            <a:ext cx="0" cy="2000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228" y="1146125"/>
            <a:ext cx="39352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对平台业务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7152" y="1498550"/>
            <a:ext cx="3988147" cy="119003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95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人工智能能力直观可感知，显著提升产品创新感知与竞争力</a:t>
            </a:r>
            <a:endParaRPr lang="en-US" sz="900" dirty="0"/>
          </a:p>
          <a:p>
            <a:pPr algn="l" marL="88900" indent="-88900">
              <a:lnSpc>
                <a:spcPts val="1395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盘活存量数据资产，测评服务由「给出分数」升级为「给出诊断与建议」</a:t>
            </a:r>
            <a:endParaRPr lang="en-US" sz="900" dirty="0"/>
          </a:p>
          <a:p>
            <a:pPr algn="l" marL="88900" indent="-88900">
              <a:lnSpc>
                <a:spcPts val="1395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全部基于自有数据运行，规避合规风险；数据持续积累形成资产壁垒</a:t>
            </a:r>
            <a:endParaRPr lang="en-US" sz="900" dirty="0"/>
          </a:p>
          <a:p>
            <a:pPr algn="l" marL="88900" indent="-88900">
              <a:lnSpc>
                <a:spcPts val="1395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商业化路径清晰：命题组卷服务输出、诊断报告增值服务、平台整体作为协会对外输出能力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186738" y="4845100"/>
            <a:ext cx="406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协作机制与分工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069925"/>
            <a:ext cx="81871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9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按2026-07-10会议纪要明确分工如下。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58701" y="3492252"/>
            <a:ext cx="8026598" cy="390525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72988" y="3492252"/>
            <a:ext cx="0" cy="3905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4977" y="3606552"/>
            <a:ext cx="77954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沟通机制：双方随时就进展或调整进行沟通，保持信息同步，及时响应后续变化。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193286" y="4845100"/>
            <a:ext cx="3998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409551"/>
          <a:ext cx="8026301" cy="1905000"/>
        </p:xfrm>
        <a:graphic>
          <a:graphicData uri="http://schemas.openxmlformats.org/drawingml/2006/table">
            <a:tbl>
              <a:tblPr/>
              <a:tblGrid>
                <a:gridCol w="1371600"/>
                <a:gridCol w="664768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责任人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1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职责分工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田老师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整理需求文档并以书面形式反馈陆博士；反馈业务方对AI人才大脑1.0的预期上线时间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陆博士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设计AI人才大脑1.0产品逻辑并安排内测；启动算法备案与等保合规准备工作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吴伟老师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梳理人才库信息审核机制，并输出方案文档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人工智能人才库建设规划方案</dc:title>
  <dc:subject>PptxGenJS Presentation</dc:subject>
  <dc:creator>AISE</dc:creator>
  <cp:lastModifiedBy>AISE</cp:lastModifiedBy>
  <cp:revision>1</cp:revision>
  <dcterms:created xsi:type="dcterms:W3CDTF">2026-08-09T08:58:29Z</dcterms:created>
  <dcterms:modified xsi:type="dcterms:W3CDTF">2026-08-09T08:58:29Z</dcterms:modified>
</cp:coreProperties>
</file>